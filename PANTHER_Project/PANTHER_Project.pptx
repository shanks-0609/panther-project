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B3A5C">
              <a:alpha val="4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502920"/>
            <a:ext cx="219456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MEDICAL AI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PANTHER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Tumor Segmentation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Attention U-Net 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Self-Supervised Pretraining  ·  Transfer Learning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1148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MRIs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39776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0.616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4612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Dice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39776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08076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Tasks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This So Hard?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481328"/>
            <a:ext cx="566928" cy="56692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5544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8056" y="1874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Pancreatic cancer is a silent killer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48056" y="2487168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almost no early symptoms. By the time it's detected, 80% of patients are already at stage III or IV. Early detection is critical — and that's where AI can help.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E05A2B"/>
          </a:solidFill>
          <a:ln/>
        </p:spPr>
      </p:sp>
      <p:sp>
        <p:nvSpPr>
          <p:cNvPr id="13" name="Shape 10"/>
          <p:cNvSpPr/>
          <p:nvPr/>
        </p:nvSpPr>
        <p:spPr>
          <a:xfrm>
            <a:off x="3337560" y="1481328"/>
            <a:ext cx="566928" cy="56692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5544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74136" y="1874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segmentation is impractical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374136" y="2487168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must hand-trace tumor boundaries across hundreds of 3D MRI slices. This is time-consuming, tiring, and can vary between clinicians — leading to inconsistencies.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72200" y="12344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234440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5"/>
          <p:cNvSpPr/>
          <p:nvPr/>
        </p:nvSpPr>
        <p:spPr>
          <a:xfrm>
            <a:off x="6263640" y="1481328"/>
            <a:ext cx="566928" cy="566928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5544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0216" y="1874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MRI data is complex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00216" y="2487168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pancreas is a small, oddly-shaped organ buried among many soft tissues. Tumors look similar to surrounding tissue on CT/MRI. Even experienced radiologists find it challenging.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goal: Build an AI model that segments pancreatic tumors automatically, accurately, and fast.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Data Strategy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749808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8930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Labeled MRIs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T1-weighted diagnostic scans with tumor masks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3075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5029200" cy="749808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4884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20370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MR-Linac MRIs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radiotherapy planning scans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2219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5029200" cy="749808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1810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self-supervised pretraining only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3136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+extra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5029200" cy="749808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7764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03250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 training · ~18 validation samples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4050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692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Pipeline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169164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Resample to 1.0 × 1.0 × 1.5 mm voxel spacing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Canonical RAS orientation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Z-score intensity normalization (non-zero voxels)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Foreground crop to remove empty borders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Pad to 96 × 96 × 48 minimum patch size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Random patch extraction (pos:neg = 1:1)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Architecture: 3D Attention U-Net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3566160"/>
            <a:ext cx="685800" cy="4572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35935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Enc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32ch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3794760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3246120"/>
            <a:ext cx="685800" cy="777240"/>
          </a:xfrm>
          <a:prstGeom prst="rect">
            <a:avLst/>
          </a:prstGeom>
          <a:solidFill>
            <a:srgbClr val="1550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34335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Enc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64ch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3634740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926080"/>
            <a:ext cx="685800" cy="1097280"/>
          </a:xfrm>
          <a:prstGeom prst="rect">
            <a:avLst/>
          </a:prstGeom>
          <a:solidFill>
            <a:srgbClr val="0D689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32735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Enc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128ch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3474720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2606040"/>
            <a:ext cx="685800" cy="1417320"/>
          </a:xfrm>
          <a:prstGeom prst="rect">
            <a:avLst/>
          </a:prstGeom>
          <a:solidFill>
            <a:srgbClr val="0882A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80360" y="311353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Enc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256ch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0" y="2743200"/>
            <a:ext cx="914400" cy="12801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Bottleneck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512ch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606040"/>
            <a:ext cx="685800" cy="1417320"/>
          </a:xfrm>
          <a:prstGeom prst="rect">
            <a:avLst/>
          </a:prstGeom>
          <a:solidFill>
            <a:srgbClr val="0882A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11353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256ch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3314700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2926080"/>
            <a:ext cx="685800" cy="1097280"/>
          </a:xfrm>
          <a:prstGeom prst="rect">
            <a:avLst/>
          </a:prstGeom>
          <a:solidFill>
            <a:srgbClr val="0D689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32735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128ch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3474720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3246120"/>
            <a:ext cx="685800" cy="777240"/>
          </a:xfrm>
          <a:prstGeom prst="rect">
            <a:avLst/>
          </a:prstGeom>
          <a:solidFill>
            <a:srgbClr val="1550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34335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64ch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3634740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3566160"/>
            <a:ext cx="685800" cy="4572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35240" y="35935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32ch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41080" y="3703320"/>
            <a:ext cx="320040" cy="50292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41080" y="37033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OUT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2ch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" y="3566160"/>
            <a:ext cx="0" cy="-32004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" y="3246120"/>
            <a:ext cx="7360920" cy="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982712" y="3566160"/>
            <a:ext cx="0" cy="-32004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490472" y="3246120"/>
            <a:ext cx="0" cy="-50292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490472" y="2743200"/>
            <a:ext cx="5623560" cy="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7114032" y="3246120"/>
            <a:ext cx="0" cy="-50292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206240" y="1417320"/>
            <a:ext cx="1234440" cy="256032"/>
          </a:xfrm>
          <a:prstGeom prst="rect">
            <a:avLst/>
          </a:prstGeom>
          <a:solidFill>
            <a:srgbClr val="E0A020"/>
          </a:solidFill>
          <a:ln/>
        </p:spPr>
      </p:sp>
      <p:sp>
        <p:nvSpPr>
          <p:cNvPr id="38" name="Text 36"/>
          <p:cNvSpPr/>
          <p:nvPr/>
        </p:nvSpPr>
        <p:spPr>
          <a:xfrm>
            <a:off x="4206240" y="14173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Attention Gates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59152" y="2926080"/>
            <a:ext cx="0" cy="-68580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359152" y="2240280"/>
            <a:ext cx="3886200" cy="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245352" y="2926080"/>
            <a:ext cx="0" cy="-68580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227832" y="2606040"/>
            <a:ext cx="0" cy="-86868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3227832" y="1737360"/>
            <a:ext cx="2148840" cy="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376672" y="2606040"/>
            <a:ext cx="0" cy="-868680"/>
          </a:xfrm>
          <a:prstGeom prst="line">
            <a:avLst/>
          </a:prstGeom>
          <a:noFill/>
          <a:ln w="15240">
            <a:solidFill>
              <a:srgbClr val="E0A02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27432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74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Choices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74320" y="157276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gates filter out irrelevant skip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Transposed convolutions upsample the decoder path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 (10%) in every ConvBlock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weight initialization for stable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channels: 32 → 64 → 128 → 256 → 512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Strategy: 3-Phase Pipeline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1645920" cy="237744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20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pretrain.py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Genesis strategy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corruption tasks: pixel shuffle, nonlinear transform, inpainting, outpainting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encoder to reconstruct corrupted MRIs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 on unlabeled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743200" cy="3657600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9319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Supervised Fine-tuning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1920240"/>
            <a:ext cx="1645920" cy="237744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920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28600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pretrained encoder weights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Dice + Cross-Entropy loss (60/40)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+ Cosine Annealing LR schedule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epochs · AMP + gradient clipping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743200" cy="3657600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88720"/>
            <a:ext cx="27432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580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Transfer Learning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1920240"/>
            <a:ext cx="1645920" cy="237744"/>
          </a:xfrm>
          <a:prstGeom prst="rect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920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train_task2.py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28600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best Task 1 checkpoint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LR: encoder 1e-5, decoder 1e-4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MR-Linac domain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epochs · early stopping (patience 25)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Function &amp; Evaluation Metrics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Combined Loss Function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14800" cy="11430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Loss = 0.6 × Dice + 0.4 × CrossEntropy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handles class imbalance  ·  CE stabilizes gradients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Dice Loss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softmax probabilities. Handles heavy class imbalance (background &gt;&gt; tumor). Penalizes both FP and FN equally.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Evaluation Metrics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72768"/>
            <a:ext cx="20116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09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Similarity Coefficient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— how much overlap between prediction and ground truth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572768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572768"/>
            <a:ext cx="2011680" cy="91440"/>
          </a:xfrm>
          <a:prstGeom prst="rect">
            <a:avLst/>
          </a:prstGeom>
          <a:solidFill>
            <a:srgbClr val="E05A2B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709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HD95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9516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Percentile Hausdorff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worst-case boundary distance in mm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172968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72968"/>
            <a:ext cx="20116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310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84632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Surface Dice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overlap at 2 mm tolerance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172968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3172968"/>
            <a:ext cx="201168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3310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ASSD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99516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Symmetric Surface Dist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distance between predicted and true surfaces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200400" cy="34747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0.616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Score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3310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set · Best model checkpoint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143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840480" y="1627632"/>
            <a:ext cx="5074920" cy="731520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627632"/>
            <a:ext cx="64008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1664208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Dice score of 0.616 on a first pass is a strong result for pancreatic tumor segmentation — one of the hardest segmentation tasks in medical imaging.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468880"/>
            <a:ext cx="5074920" cy="731520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2468880"/>
            <a:ext cx="64008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250545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gates helped the model focus on the small pancreatic region while ignoring surrounding soft tissue.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0" y="3310128"/>
            <a:ext cx="5074920" cy="731520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3310128"/>
            <a:ext cx="64008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334670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 on unlabeled data gave the encoder a head-start on learning MRI-specific features.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0" y="4151376"/>
            <a:ext cx="5074920" cy="731520"/>
          </a:xfrm>
          <a:prstGeom prst="rect">
            <a:avLst/>
          </a:prstGeom>
          <a:solidFill>
            <a:srgbClr val="13253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0" y="4151376"/>
            <a:ext cx="64008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418795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Transfer Learning is next — adapting to MR-Linac scans with differential learning rates.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Pipeline: From Data to Prediction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508760" y="242316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9344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1234440" cy="11887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883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2176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MRI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7614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80944" y="242316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46504" y="1828800"/>
            <a:ext cx="1234440" cy="1188720"/>
          </a:xfrm>
          <a:prstGeom prst="rect">
            <a:avLst/>
          </a:prstGeom>
          <a:solidFill>
            <a:srgbClr val="0D689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46504" y="1883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46504" y="2176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46504" y="27614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Spacing · Norm · Crop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53128" y="242316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18688" y="1828800"/>
            <a:ext cx="1234440" cy="11887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18688" y="1883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18688" y="2176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18688" y="27614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pretrain.py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25312" y="242316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25896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90872" y="1828800"/>
            <a:ext cx="1234440" cy="11887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90872" y="1883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90872" y="2176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90872" y="27614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97496" y="242316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63056" y="1828800"/>
            <a:ext cx="1234440" cy="118872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63056" y="1883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63056" y="2176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63056" y="27614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train_task2.py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35240" y="1828800"/>
            <a:ext cx="1234440" cy="118872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35240" y="1883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35240" y="2176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Demo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35240" y="27614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evaluate.py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291840"/>
            <a:ext cx="20574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291840"/>
            <a:ext cx="2057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 Training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65760" y="376732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Mixed Precision (FP16) cuts VRAM usage in half and speeds up training on RTX GPUs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487168" y="3291840"/>
            <a:ext cx="20574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487168" y="3291840"/>
            <a:ext cx="2057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2578608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Sliding Window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578608" y="376732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overlapping 96×96×48 patches across the full volume with Gaussian blending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00016" y="3291840"/>
            <a:ext cx="20574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0016" y="3291840"/>
            <a:ext cx="2057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4791456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791456" y="376732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halts if validation Dice doesn't improve for 25 consecutive validation rounds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912864" y="3291840"/>
            <a:ext cx="20574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912864" y="3291840"/>
            <a:ext cx="2057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7004304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TensorBoard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004304" y="376732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losses, Dice scores, and learning rates are logged and visualizable in real time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1B3A5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end-to-end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AI pipeline.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Attention U-Net from scratch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 (Models Genesis)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BCE combined loss function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across imaging domains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inference with Gaussian blending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0.616 Dice Score on Task 1 validation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2194560"/>
            <a:ext cx="3749040" cy="26060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66360" y="28346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train_task2.py for MR-Linac fine-tuning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evaluate.py for full metrics report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demo.py to visualize predictions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  ·  Pancreatic Tumor Segmentation  ·  MONAI · PyTorch · RTX 5060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PANTHER – Pancreatic Tumor Segmentation</dc:title>
  <dc:subject>PptxGenJS Presentation</dc:subject>
  <dc:creator>PptxGenJS</dc:creator>
  <cp:lastModifiedBy>PptxGenJS</cp:lastModifiedBy>
  <cp:revision>1</cp:revision>
  <dcterms:created xsi:type="dcterms:W3CDTF">2026-04-15T05:01:26Z</dcterms:created>
  <dcterms:modified xsi:type="dcterms:W3CDTF">2026-04-15T05:01:26Z</dcterms:modified>
</cp:coreProperties>
</file>